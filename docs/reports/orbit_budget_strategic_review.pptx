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286000"/>
            <a:ext cx="12191695" cy="2743200"/>
          </a:xfrm>
          <a:prstGeom prst="roundRect">
            <a:avLst/>
          </a:prstGeom>
          <a:solidFill>
            <a:srgbClr val="0F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7315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Arial"/>
              </a:defRPr>
            </a:pPr>
            <a:r>
              <a:t>STRATEGIC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4688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「浪費家の浪費を止める」は実現できるのか？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747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ADE80"/>
                </a:solidFill>
                <a:latin typeface="Arial"/>
              </a:defRPr>
            </a:pPr>
            <a:r>
              <a:t>Orbit Budget のプロダクト戦略 再検証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3891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Arial"/>
              </a:defRPr>
            </a:pPr>
            <a:r>
              <a:t>行動経済学 × ビジネス戦略 × ADHD当事者 の3視点による統合分析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74151"/>
                </a:solidFill>
                <a:latin typeface="Arial"/>
              </a:defRPr>
            </a:pPr>
            <a:r>
              <a:t>2026.03.19 |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14400"/>
            <a:ext cx="11064240" cy="27432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923C"/>
                </a:solidFill>
                <a:latin typeface="Arial"/>
              </a:defRPr>
            </a:pPr>
            <a:r>
              <a:t>結論: Orbit Budget は「記録を楽にするアプリ」であり、まだ「浪費を止めるアプリ」にはなっていない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474720" cy="2286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Arial"/>
              </a:defRPr>
            </a:pPr>
            <a:r>
              <a:t>✓ 強み（Keep）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No-Look Experience は唯一無二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877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ウィジェット＝「支払いの痛み」の再注入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4378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立替分離＝管理崩壊の防止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9981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3秒入力＝行動コストの極限削減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5584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情報フィードバック欠如の完全カバー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828800"/>
            <a:ext cx="3474720" cy="2286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965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Arial"/>
              </a:defRPr>
            </a:pPr>
            <a:r>
              <a:t>△ 課題（Problem）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3317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購入「前」の介入メカニズムがない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5877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日割り予算の概念がない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84378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通知・リマインダーがない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09981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入力忘れ→データ信頼性崩壊リスク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35584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プロダクト成功＝ユーザー離脱の矛盾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828800"/>
            <a:ext cx="3474720" cy="22860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965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Arial"/>
              </a:defRPr>
            </a:pPr>
            <a:r>
              <a:t>→ 提言（Action）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3317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①「今日使える金額」の導入（工数: S）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5877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②購入前チェックモード（工数: M）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84378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③記録リマインダー通知（工数: S）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09981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35584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上記3つで「記録型→介入型」へ転換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389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Arial"/>
              </a:defRPr>
            </a:pPr>
            <a:r>
              <a:t>現在の Orbit Budget は浪費の16原因のうち約半数に有効。特に「情報フィードバックの欠如」は全原因をカバー。</a:t>
            </a:r>
            <a:br/>
            <a:r>
              <a:t>残り半数（衝動性の抑制・購入前介入）を小工数の3機能で補完すれば、「浪費を本当に止めるアプリ」として競合と圧倒的な差別化が可能。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浪費の根本原因ツリー（MECE分解）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14400"/>
            <a:ext cx="11064240" cy="27432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Arial"/>
              </a:defRPr>
            </a:pPr>
            <a:r>
              <a:t>なぜ人は浪費するのか？ — 4軸 × 16原因に分解し、Orbit Budget の守備範囲を特定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2651760" cy="4114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0A5FA"/>
                </a:solidFill>
                <a:latin typeface="Arial"/>
              </a:defRPr>
            </a:pPr>
            <a:r>
              <a:t>A. 認知バイアス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2651760" cy="5029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48839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A-1 現在バイアス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148839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DE80"/>
                </a:solidFill>
                <a:latin typeface="Arial"/>
              </a:defRPr>
            </a:pPr>
            <a:r>
              <a:t>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377439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DE80"/>
                </a:solidFill>
                <a:latin typeface="Arial"/>
              </a:defRPr>
            </a:pPr>
            <a:r>
              <a:t>部分有効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97479"/>
            <a:ext cx="2651760" cy="5029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743199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A-2 メンタルアカウンティング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743199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DE80"/>
                </a:solidFill>
                <a:latin typeface="Arial"/>
              </a:defRPr>
            </a:pPr>
            <a:r>
              <a:t>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971799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DE80"/>
                </a:solidFill>
                <a:latin typeface="Arial"/>
              </a:defRPr>
            </a:pPr>
            <a:r>
              <a:t>部分有効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91839"/>
            <a:ext cx="2651760" cy="5029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337559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A-3 アンカリング効果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337559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  <a:latin typeface="Arial"/>
              </a:defRPr>
            </a:pPr>
            <a:r>
              <a:t>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566159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EF4444"/>
                </a:solidFill>
                <a:latin typeface="Arial"/>
              </a:defRPr>
            </a:pPr>
            <a:r>
              <a:t>未対応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886200"/>
            <a:ext cx="2651760" cy="5029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9319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A-4 楽観性バイアス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39319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DE80"/>
                </a:solidFill>
                <a:latin typeface="Arial"/>
              </a:defRPr>
            </a:pPr>
            <a:r>
              <a:t>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416052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DE80"/>
                </a:solidFill>
                <a:latin typeface="Arial"/>
              </a:defRPr>
            </a:pPr>
            <a:r>
              <a:t>部分有効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80560"/>
            <a:ext cx="2651760" cy="5029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52628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A-5 支払いの痛みの鈍麻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45262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DE80"/>
                </a:solidFill>
                <a:latin typeface="Arial"/>
              </a:defRPr>
            </a:pPr>
            <a:r>
              <a:t>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475488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DE80"/>
                </a:solidFill>
                <a:latin typeface="Arial"/>
              </a:defRPr>
            </a:pPr>
            <a:r>
              <a:t>有効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83280" y="1554480"/>
            <a:ext cx="2651760" cy="4114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0" y="1600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923C"/>
                </a:solidFill>
                <a:latin typeface="Arial"/>
              </a:defRPr>
            </a:pPr>
            <a:r>
              <a:t>B. 自己制御の失敗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80" y="2103120"/>
            <a:ext cx="2651760" cy="5029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2148839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B-1 意志力の枯渇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2148839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  <a:latin typeface="Arial"/>
              </a:defRPr>
            </a:pPr>
            <a:r>
              <a:t>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2377439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B923C"/>
                </a:solidFill>
                <a:latin typeface="Arial"/>
              </a:defRPr>
            </a:pPr>
            <a:r>
              <a:t>効果薄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83280" y="2697479"/>
            <a:ext cx="2651760" cy="5029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2743199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B-2 衝動性（ADHD）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2743199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DE80"/>
                </a:solidFill>
                <a:latin typeface="Arial"/>
              </a:defRPr>
            </a:pPr>
            <a:r>
              <a:t>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2971799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DE80"/>
                </a:solidFill>
                <a:latin typeface="Arial"/>
              </a:defRPr>
            </a:pPr>
            <a:r>
              <a:t>部分有効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83280" y="3291839"/>
            <a:ext cx="2651760" cy="5029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20440" y="3337559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B-3 社会的圧力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337559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  <a:latin typeface="Arial"/>
              </a:defRPr>
            </a:pPr>
            <a:r>
              <a:t>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0" y="3566159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B923C"/>
                </a:solidFill>
                <a:latin typeface="Arial"/>
              </a:defRPr>
            </a:pPr>
            <a:r>
              <a:t>効果薄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83280" y="3886200"/>
            <a:ext cx="2651760" cy="5029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20440" y="39319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B-4 習慣化された浪費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0" y="39319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DE80"/>
                </a:solidFill>
                <a:latin typeface="Arial"/>
              </a:defRPr>
            </a:pPr>
            <a:r>
              <a:t>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03520" y="416052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DE80"/>
                </a:solidFill>
                <a:latin typeface="Arial"/>
              </a:defRPr>
            </a:pPr>
            <a:r>
              <a:t>部分有効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1554480"/>
            <a:ext cx="2651760" cy="4114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59" y="1600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Arial"/>
              </a:defRPr>
            </a:pPr>
            <a:r>
              <a:t>C. 情報の欠如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17920" y="2103120"/>
            <a:ext cx="2651760" cy="5029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55080" y="2148839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C-1 支出の不可視性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2148839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DE80"/>
                </a:solidFill>
                <a:latin typeface="Arial"/>
              </a:defRPr>
            </a:pPr>
            <a:r>
              <a:t>◎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60" y="2377439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DE80"/>
                </a:solidFill>
                <a:latin typeface="Arial"/>
              </a:defRPr>
            </a:pPr>
            <a:r>
              <a:t>有効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2697479"/>
            <a:ext cx="2651760" cy="5029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55080" y="2743199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C-2 記録の挫折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2743199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DE80"/>
                </a:solidFill>
                <a:latin typeface="Arial"/>
              </a:defRPr>
            </a:pPr>
            <a:r>
              <a:t>◎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0" y="2971799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DE80"/>
                </a:solidFill>
                <a:latin typeface="Arial"/>
              </a:defRPr>
            </a:pPr>
            <a:r>
              <a:t>有効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17920" y="3291839"/>
            <a:ext cx="2651760" cy="5029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55080" y="3337559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C-3 予算の不在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1040" y="3337559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DE80"/>
                </a:solidFill>
                <a:latin typeface="Arial"/>
              </a:defRPr>
            </a:pPr>
            <a:r>
              <a:t>◎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38160" y="3566159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DE80"/>
                </a:solidFill>
                <a:latin typeface="Arial"/>
              </a:defRPr>
            </a:pPr>
            <a:r>
              <a:t>有効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17920" y="3886200"/>
            <a:ext cx="2651760" cy="5029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55080" y="39319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C-4 立替による管理崩壊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21040" y="39319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DE80"/>
                </a:solidFill>
                <a:latin typeface="Arial"/>
              </a:defRPr>
            </a:pPr>
            <a:r>
              <a:t>◎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38160" y="416052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DE80"/>
                </a:solidFill>
                <a:latin typeface="Arial"/>
              </a:defRPr>
            </a:pPr>
            <a:r>
              <a:t>有効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052560" y="1554480"/>
            <a:ext cx="2651760" cy="4114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44000" y="16002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Arial"/>
              </a:defRPr>
            </a:pPr>
            <a:r>
              <a:t>D. 環境・構造要因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052560" y="2103120"/>
            <a:ext cx="2651760" cy="5029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89720" y="2148839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D-1 ダークパターン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155680" y="2148839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  <a:latin typeface="Arial"/>
              </a:defRPr>
            </a:pPr>
            <a:r>
              <a:t>×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972800" y="2377439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EF4444"/>
                </a:solidFill>
                <a:latin typeface="Arial"/>
              </a:defRPr>
            </a:pPr>
            <a:r>
              <a:t>未対応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052560" y="2697479"/>
            <a:ext cx="2651760" cy="5029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189720" y="2743199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D-2 サブスク累積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155680" y="2743199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B923C"/>
                </a:solidFill>
                <a:latin typeface="Arial"/>
              </a:defRPr>
            </a:pPr>
            <a:r>
              <a:t>△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972800" y="2971799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B923C"/>
                </a:solidFill>
                <a:latin typeface="Arial"/>
              </a:defRPr>
            </a:pPr>
            <a:r>
              <a:t>効果薄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052560" y="3291839"/>
            <a:ext cx="2651760" cy="5029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189720" y="3337559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D-3 収支の時間的分離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155680" y="3337559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DE80"/>
                </a:solidFill>
                <a:latin typeface="Arial"/>
              </a:defRPr>
            </a:pPr>
            <a:r>
              <a:t>◎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972800" y="3566159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4ADE80"/>
                </a:solidFill>
                <a:latin typeface="Arial"/>
              </a:defRPr>
            </a:pPr>
            <a:r>
              <a:t>有効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凡例: ◎ = 有効（解決できる） / ○ = 部分的に有効 / △ = 効果薄い / × = 対応できていない</a:t>
            </a:r>
            <a:br/>
            <a:r>
              <a:t>Orbit Budget は C（情報の欠如）を完全カバー。A-5（支払いの痛みの再注入）が最大の武器。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競合比較: 「記録型」 vs 「介入型」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14400"/>
            <a:ext cx="11064240" cy="27432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25603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CA3AF"/>
                </a:solidFill>
                <a:latin typeface="Arial"/>
              </a:defRPr>
            </a:pPr>
            <a:r>
              <a:t>マネーフォワード / Zaim（記録型）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支出発生 → 自動記録 → 月末レポート → 反省 → 翌月も同じ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0A5FA"/>
                </a:solidFill>
                <a:latin typeface="Arial"/>
              </a:defRPr>
            </a:pPr>
            <a:r>
              <a:t>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286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正確に記録したい（外発的）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0A5FA"/>
                </a:solidFill>
                <a:latin typeface="Arial"/>
              </a:defRPr>
            </a:pPr>
            <a:r>
              <a:t>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606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自動連携で楽。だが分析にスキル必要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0A5FA"/>
                </a:solidFill>
                <a:latin typeface="Arial"/>
              </a:defRPr>
            </a:pPr>
            <a:r>
              <a:t>Trigger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926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ユーザーが自発的に開く（プル型）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832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CA3AF"/>
                </a:solidFill>
                <a:latin typeface="Arial"/>
              </a:defRPr>
            </a:pPr>
            <a:r>
              <a:t>= 家計の「ダッシュボード」（見に行く人だけに役立つ）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280160"/>
            <a:ext cx="5303520" cy="25603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Arial"/>
              </a:defRPr>
            </a:pPr>
            <a:r>
              <a:t>Orbit Budget（介入型）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8288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ロック画面を見る → 色が目に入る → 「やばい」→ 支出を止める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286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Arial"/>
              </a:defRPr>
            </a:pPr>
            <a:r>
              <a:t>Motivation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286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赤いウィジェットを緑に戻したい（内発的）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606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Arial"/>
              </a:defRPr>
            </a:pPr>
            <a:r>
              <a:t>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606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記録も閲覧も3秒。認知負荷ゼロ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926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Arial"/>
              </a:defRPr>
            </a:pPr>
            <a:r>
              <a:t>Trigger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926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ロック画面で自動発火（プッシュ型）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3832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Arial"/>
              </a:defRPr>
            </a:pPr>
            <a:r>
              <a:t>= 家計の「警報装置」（見なくても鳴る）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BJ Fogg の行動モデル（B = MAT）による比較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572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Arial"/>
              </a:defRPr>
            </a:pPr>
            <a:r>
              <a:t>キャッシュレス社会で消えた「財布の中身が減る感覚」を、ウィジェットの色変化で疑似的に復元する。</a:t>
            </a:r>
            <a:br/>
            <a:r>
              <a:t>これが Orbit Budget の本質的な価値 = 「デジタル時代の支払いの痛みの再注入」</a:t>
            </a:r>
            <a:br/>
            <a:br/>
            <a:r>
              <a:t>ただし、警告には順応効果がある。赤いウィジェットにも慣れる。</a:t>
            </a:r>
            <a:br/>
            <a:r>
              <a:t>→ チャレンジ機能・達成演出・日割り予算の変動表示で「慣れ」を防ぐ設計が必要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ADHD当事者視点: 本当にこのアプリで浪費は止まるか？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14400"/>
            <a:ext cx="11064240" cy="27432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2651760" cy="11887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923C"/>
                </a:solidFill>
                <a:latin typeface="Arial"/>
              </a:defRPr>
            </a:pPr>
            <a:r>
              <a:t>衝動性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「欲しい」→ 即購入。</a:t>
            </a:r>
            <a:br/>
            <a:r>
              <a:t>ブレーキが効かない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188720"/>
            <a:ext cx="2651760" cy="11887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2801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Arial"/>
              </a:defRPr>
            </a:pPr>
            <a:r>
              <a:t>実行機能障害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6002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「管理しよう」→ 行動に</a:t>
            </a:r>
            <a:br/>
            <a:r>
              <a:t>落とし込めない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2651760" cy="11887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2801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Arial"/>
              </a:defRPr>
            </a:pPr>
            <a:r>
              <a:t>時間感覚の歪み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6002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月末まであとX日が</a:t>
            </a:r>
            <a:br/>
            <a:r>
              <a:t>認識できない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188720"/>
            <a:ext cx="2651760" cy="11887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20" y="12801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55F7"/>
                </a:solidFill>
                <a:latin typeface="Arial"/>
              </a:defRPr>
            </a:pPr>
            <a:r>
              <a:t>報酬系の問題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16002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買い物＝手軽な</a:t>
            </a:r>
            <a:br/>
            <a:r>
              <a:t>ドーパミン供給源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606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各機能の ADHD 適合度評価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17520"/>
            <a:ext cx="3566160" cy="10058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108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ウィジェット常時表示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108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ADE80"/>
                </a:solidFill>
                <a:latin typeface="Arial"/>
              </a:defRPr>
            </a:pPr>
            <a:r>
              <a:t>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29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Arial"/>
              </a:defRPr>
            </a:pPr>
            <a:r>
              <a:t>正しいが「見る」だけでは</a:t>
            </a:r>
            <a:br/>
            <a:r>
              <a:t>行動は変わらない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017520"/>
            <a:ext cx="3566160" cy="10058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3108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3秒入力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108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ADE80"/>
                </a:solidFill>
                <a:latin typeface="Arial"/>
              </a:defRPr>
            </a:pPr>
            <a:r>
              <a:t>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429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Arial"/>
              </a:defRPr>
            </a:pPr>
            <a:r>
              <a:t>最大の武器。ただし</a:t>
            </a:r>
            <a:br/>
            <a:r>
              <a:t>入力自体を忘れる問題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017520"/>
            <a:ext cx="3566160" cy="10058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3108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予算ゲージ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3108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ADE80"/>
                </a:solidFill>
                <a:latin typeface="Arial"/>
              </a:defRPr>
            </a:pPr>
            <a:r>
              <a:t>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4290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Arial"/>
              </a:defRPr>
            </a:pPr>
            <a:r>
              <a:t>色変化は直感的だが</a:t>
            </a:r>
            <a:br/>
            <a:r>
              <a:t>情報量が多すぎる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206240"/>
            <a:ext cx="3566160" cy="10058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2976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立替分離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429767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ADE80"/>
                </a:solidFill>
                <a:latin typeface="Arial"/>
              </a:defRPr>
            </a:pPr>
            <a:r>
              <a:t>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617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Arial"/>
              </a:defRPr>
            </a:pPr>
            <a:r>
              <a:t>認知負荷の分離が</a:t>
            </a:r>
            <a:br/>
            <a:r>
              <a:t>完璧に機能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0" y="4206240"/>
            <a:ext cx="3566160" cy="10058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80" y="42976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チュートリアル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429767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B923C"/>
                </a:solidFill>
                <a:latin typeface="Arial"/>
              </a:defRPr>
            </a:pPr>
            <a:r>
              <a:t>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280" y="4617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Arial"/>
              </a:defRPr>
            </a:pPr>
            <a:r>
              <a:t>ADHDの人は</a:t>
            </a:r>
            <a:br/>
            <a:r>
              <a:t>スキップする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4206240"/>
            <a:ext cx="3566160" cy="10058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82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66760" y="42976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通知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429767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F4444"/>
                </a:solidFill>
                <a:latin typeface="Arial"/>
              </a:defRPr>
            </a:pPr>
            <a:r>
              <a:t>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4617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Arial"/>
              </a:defRPr>
            </a:pPr>
            <a:r>
              <a:t>未実装。</a:t>
            </a:r>
            <a:br/>
            <a:r>
              <a:t>これが致命的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923C"/>
                </a:solidFill>
                <a:latin typeface="Arial"/>
              </a:defRPr>
            </a:pPr>
            <a:r>
              <a:t>致命的な欠如: ① 購入「前」の介入がない ② 日割り予算がない ③ プッシュ通知がない</a:t>
            </a:r>
            <a:br/>
            <a:r>
              <a:t>→ 現在は「記録を楽にするアプリ」。「浪費を止めるアプリ」になるには上記3つが不可欠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「記録型」→「介入型」への転換: 3つの改善提案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14400"/>
            <a:ext cx="11064240" cy="27432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566160" cy="50292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325880"/>
            <a:ext cx="411480" cy="41148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80B14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19" y="13533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「今日使える金額」の導入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DE80"/>
                </a:solidFill>
                <a:latin typeface="Arial"/>
              </a:defRPr>
            </a:pPr>
            <a:r>
              <a:t>What: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月の残り予算 ÷ 残り日数 = 今日の予算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DE80"/>
                </a:solidFill>
                <a:latin typeface="Arial"/>
              </a:defRPr>
            </a:pPr>
            <a:r>
              <a:t>Why: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803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Arial"/>
              </a:defRPr>
            </a:pPr>
            <a:r>
              <a:t>Time Blindness（時間感覚の歪み）への直接対策。</a:t>
            </a:r>
            <a:br/>
            <a:r>
              <a:t>「残り82,000円」より「今日は2,700円まで」の方が</a:t>
            </a:r>
            <a:br/>
            <a:r>
              <a:t>行動を変える力が圧倒的に強い。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DE80"/>
                </a:solidFill>
                <a:latin typeface="Arial"/>
              </a:defRPr>
            </a:pPr>
            <a:r>
              <a:t>実装: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43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Arial"/>
              </a:defRPr>
            </a:pPr>
            <a:r>
              <a:t>ウィジェット・ダッシュボードの</a:t>
            </a:r>
            <a:br/>
            <a:r>
              <a:t>最上位に表示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29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DE80"/>
                </a:solidFill>
                <a:latin typeface="Arial"/>
              </a:defRPr>
            </a:pPr>
            <a:r>
              <a:t>工数: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57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S（計算ロジック + 表示変更のみ）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79" y="1188720"/>
            <a:ext cx="3566160" cy="50292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34840" y="1325880"/>
            <a:ext cx="411480" cy="41148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1325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80B14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59" y="13533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「購入前チェック」モード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59" y="18745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923C"/>
                </a:solidFill>
                <a:latin typeface="Arial"/>
              </a:defRPr>
            </a:pPr>
            <a:r>
              <a:t>What: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59" y="2103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買う前に金額入力 → 残額シミュレーション → 確認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2651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923C"/>
                </a:solidFill>
                <a:latin typeface="Arial"/>
              </a:defRPr>
            </a:pPr>
            <a:r>
              <a:t>Why: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28803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Arial"/>
              </a:defRPr>
            </a:pPr>
            <a:r>
              <a:t>衝動性に対する唯一の有効な対策は</a:t>
            </a:r>
            <a:br/>
            <a:r>
              <a:t>「意思決定と実行の間に物理的な間を作る」こと。</a:t>
            </a:r>
            <a:br/>
            <a:r>
              <a:t>この1ステップが最後のブレーキになる。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4114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923C"/>
                </a:solidFill>
                <a:latin typeface="Arial"/>
              </a:defRPr>
            </a:pPr>
            <a:r>
              <a:t>実装: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59" y="4343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Arial"/>
              </a:defRPr>
            </a:pPr>
            <a:r>
              <a:t>Quick Input に「これから使う」</a:t>
            </a:r>
            <a:br/>
            <a:r>
              <a:t>モードを追加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59" y="5029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923C"/>
                </a:solidFill>
                <a:latin typeface="Arial"/>
              </a:defRPr>
            </a:pPr>
            <a:r>
              <a:t>工数: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59" y="5257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M（新モード UI + フロー追加）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9" y="1188720"/>
            <a:ext cx="3566160" cy="50292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183879" y="1325880"/>
            <a:ext cx="411480" cy="41148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79" y="1325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80B14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799" y="13533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記録忘れ防止リマインダー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599" y="187451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A5FA"/>
                </a:solidFill>
                <a:latin typeface="Arial"/>
              </a:defRPr>
            </a:pPr>
            <a:r>
              <a:t>What: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9" y="2103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毎日21時に通知 + 未記録日の検知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9" y="2651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A5FA"/>
                </a:solidFill>
                <a:latin typeface="Arial"/>
              </a:defRPr>
            </a:pPr>
            <a:r>
              <a:t>Why: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599" y="28803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Arial"/>
              </a:defRPr>
            </a:pPr>
            <a:r>
              <a:t>ADHDが家計簿を3日で放棄する最大の原因は</a:t>
            </a:r>
            <a:br/>
            <a:r>
              <a:t>「空白期間ができてやる気を失う」こと。</a:t>
            </a:r>
            <a:br/>
            <a:r>
              <a:t>ポジティブな文言で習慣の外部足場を提供。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599" y="4114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A5FA"/>
                </a:solidFill>
                <a:latin typeface="Arial"/>
              </a:defRPr>
            </a:pPr>
            <a:r>
              <a:t>実装: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9" y="4343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Arial"/>
              </a:defRPr>
            </a:pPr>
            <a:r>
              <a:t>UNUserNotificationCenter で</a:t>
            </a:r>
            <a:br/>
            <a:r>
              <a:t>ローカル通知を実装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599" y="5029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0A5FA"/>
                </a:solidFill>
                <a:latin typeface="Arial"/>
              </a:defRPr>
            </a:pPr>
            <a:r>
              <a:t>工数: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599" y="5257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S（ローカル通知のみ）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Arial"/>
              </a:defRPr>
            </a:pPr>
            <a:r>
              <a:t>3つとも現在のアーキテクチャに大きな変更なく追加可能。合計工数: 2〜3スプリント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ビジネスモデルの構造課題と対策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14400"/>
            <a:ext cx="11064240" cy="27432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Arial"/>
              </a:defRPr>
            </a:pPr>
            <a:r>
              <a:t>構造的矛盾: プロダクトの成功 = ユーザーの離脱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1920240" cy="4572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ADE80"/>
                </a:solidFill>
                <a:latin typeface="Arial"/>
              </a:defRPr>
            </a:pPr>
            <a:r>
              <a:t>浪費が止まる（成功）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17373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691640"/>
            <a:ext cx="1920240" cy="4572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737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923C"/>
                </a:solidFill>
                <a:latin typeface="Arial"/>
              </a:defRPr>
            </a:pPr>
            <a:r>
              <a:t>赤字にならない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7373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691640"/>
            <a:ext cx="1920240" cy="4572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79" y="1737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923C"/>
                </a:solidFill>
                <a:latin typeface="Arial"/>
              </a:defRPr>
            </a:pPr>
            <a:r>
              <a:t>警告が出ない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7373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199" y="1691640"/>
            <a:ext cx="1920240" cy="4572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737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Arial"/>
              </a:defRPr>
            </a:pPr>
            <a:r>
              <a:t>課金動機が消える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59" y="17373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0" y="1691640"/>
            <a:ext cx="1920240" cy="4572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17373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Arial"/>
              </a:defRPr>
            </a:pPr>
            <a:r>
              <a:t>LTVが下がる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468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Arial"/>
              </a:defRPr>
            </a:pPr>
            <a:r>
              <a:t>対策: ゴールの拡張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926080"/>
            <a:ext cx="5303520" cy="13716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175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0A5FA"/>
                </a:solidFill>
                <a:latin typeface="Arial"/>
              </a:defRPr>
            </a:pPr>
            <a:r>
              <a:t>現在のゴール（Phase 1-2）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3375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Arial"/>
              </a:defRPr>
            </a:pPr>
            <a:r>
              <a:t>「浪費を止める」= 予算内で生活する</a:t>
            </a:r>
            <a:br/>
            <a:br/>
            <a:r>
              <a:t>→ 達成するとアプリ不要に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2926080"/>
            <a:ext cx="5303520" cy="13716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0175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Arial"/>
              </a:defRPr>
            </a:pPr>
            <a:r>
              <a:t>拡張ゴール（Phase 3以降）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3375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「お金と上手に付き合う」= 節約 → 貯蓄 → 投資</a:t>
            </a:r>
            <a:br/>
            <a:br/>
            <a:r>
              <a:t>→ 浪費が止まった後も使い続ける理由がある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市場規模と現実的な収益見通し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029200"/>
            <a:ext cx="2651760" cy="11887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1206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0A5FA"/>
                </a:solidFill>
                <a:latin typeface="Arial"/>
              </a:defRPr>
            </a:pPr>
            <a:r>
              <a:t>TAM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349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3,000万人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7150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Arial"/>
              </a:defRPr>
            </a:pPr>
            <a:r>
              <a:t>家計簿アプリ市場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83280" y="5029200"/>
            <a:ext cx="2651760" cy="11887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0440" y="51206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Arial"/>
              </a:defRPr>
            </a:pPr>
            <a:r>
              <a:t>SAM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5349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150〜250万人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57150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Arial"/>
              </a:defRPr>
            </a:pPr>
            <a:r>
              <a:t>浪費家セグメント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5029200"/>
            <a:ext cx="2651760" cy="11887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51206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923C"/>
                </a:solidFill>
                <a:latin typeface="Arial"/>
              </a:defRPr>
            </a:pPr>
            <a:r>
              <a:t>SOM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5349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1〜3万人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57150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Arial"/>
              </a:defRPr>
            </a:pPr>
            <a:r>
              <a:t>初年度獲得目標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52560" y="5029200"/>
            <a:ext cx="2651760" cy="11887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89720" y="51206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Arial"/>
              </a:defRPr>
            </a:pPr>
            <a:r>
              <a:t>黒字化ライン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9720" y="5349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DAU 3,000人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9720" y="57150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Arial"/>
              </a:defRPr>
            </a:pPr>
            <a:r>
              <a:t>広告+サブスク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ターゲットセグメント: 誰を最初に攻めるか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14400"/>
            <a:ext cx="11064240" cy="27432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1064240" cy="11887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Arial"/>
              </a:defRPr>
            </a:pPr>
            <a:r>
              <a:t>B: 飲み会社畜型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280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Arial"/>
              </a:defRPr>
            </a:pPr>
            <a:r>
              <a:t>★★★ 最優先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25〜32歳 / 手取り22〜35万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45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飲み会・外食・ガジェット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258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立替セパレーターが直接刺さる</a:t>
            </a:r>
            <a:br/>
            <a:r>
              <a:t>既存アプリへの不満が具体的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14600"/>
            <a:ext cx="11064240" cy="11887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Arial"/>
              </a:defRPr>
            </a:pPr>
            <a:r>
              <a:t>E: ADHD当事者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606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Arial"/>
              </a:defRPr>
            </a:pPr>
            <a:r>
              <a:t>★★★ 最優先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71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全年齢 / 全帯域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971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衝動買い全般・サブスク忘れ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517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「ADHD向け」がそのまま刺さる</a:t>
            </a:r>
            <a:br/>
            <a:r>
              <a:t>自助コミュニティで口コミ拡散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0480"/>
            <a:ext cx="11064240" cy="11887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923C"/>
                </a:solidFill>
                <a:latin typeface="Arial"/>
              </a:defRPr>
            </a:pPr>
            <a:r>
              <a:t>A: 衝動買いSNS世代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931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923C"/>
                </a:solidFill>
                <a:latin typeface="Arial"/>
              </a:defRPr>
            </a:pPr>
            <a:r>
              <a:t>★★☆ 第2優先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97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20〜25歳 / 手取り15〜22万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297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コスメ・カフェ・推し活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9776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WTPが低い（月480円への抵抗）</a:t>
            </a:r>
            <a:br/>
            <a:r>
              <a:t>推し活は「浪費」と認識していない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66359"/>
            <a:ext cx="11064240" cy="11887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25779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CA3AF"/>
                </a:solidFill>
                <a:latin typeface="Arial"/>
              </a:defRPr>
            </a:pPr>
            <a:r>
              <a:t>C: 見栄消費カップル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525779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CA3AF"/>
                </a:solidFill>
                <a:latin typeface="Arial"/>
              </a:defRPr>
            </a:pPr>
            <a:r>
              <a:t>★☆☆ 第3優先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62355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28〜35歳 / 手取り25〜40万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62355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デート・旅行・ブランド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3035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rial"/>
              </a:defRPr>
            </a:pPr>
            <a:r>
              <a:t>個人アプリでは対応しにくい</a:t>
            </a:r>
            <a:br/>
            <a:r>
              <a:t>家族向け機能が必要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Arial"/>
              </a:defRPr>
            </a:pPr>
            <a:r>
              <a:t>戦略: セグメントBとEの二刀流でPMFを検証 → D30継続率20%達成後にセグメントAへ拡大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NEXT STEPS: 今後のアクションプラン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14400"/>
            <a:ext cx="11064240" cy="27432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2651760" cy="41148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ADE80"/>
                </a:solidFill>
                <a:latin typeface="Arial"/>
              </a:defRPr>
            </a:pPr>
            <a:r>
              <a:t>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MVP リリース準備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• TestFlight 配布（現在のコードベースで）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14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• ST（システムテスト）10件の実施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26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• App Store 提出・審査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743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CA3A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188720"/>
            <a:ext cx="2651760" cy="41148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2801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0A5FA"/>
                </a:solidFill>
                <a:latin typeface="Arial"/>
              </a:defRPr>
            </a:pPr>
            <a:r>
              <a:t>v1.1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645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「介入型」機能追加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• ①「今日使える金額」の実装（工数 S）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514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• ③ 記録リマインダー通知の実装（工数 S）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926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• ウィジェットへの日割り予算表示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743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CA3A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188720"/>
            <a:ext cx="2651760" cy="41148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2801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923C"/>
                </a:solidFill>
                <a:latin typeface="Arial"/>
              </a:defRPr>
            </a:pPr>
            <a:r>
              <a:t>v1.2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645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行動変容の深化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• ② 購入前チェックモードの実装（工数 M）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514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• チャレンジ機能・ストリーク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926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• 週間/月間レポート通知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27432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CA3A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1188720"/>
            <a:ext cx="2651760" cy="41148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20" y="12801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855F7"/>
                </a:solidFill>
                <a:latin typeface="Arial"/>
              </a:defRPr>
            </a:pPr>
            <a:r>
              <a:t>v2.0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1645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ゴールの拡張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• 「お金と上手に付き合う」へシフト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514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• 貯蓄目標機能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2926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Arial"/>
              </a:defRPr>
            </a:pPr>
            <a:r>
              <a:t>• AdMob + サブスク本格導入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Arial"/>
              </a:defRPr>
            </a:pPr>
            <a:r>
              <a:t>最重要KPI: D30継続率 20% の達成</a:t>
            </a:r>
            <a:br/>
            <a:r>
              <a:t>マネタイズは PMF（Product-Market Fit）のシグナルが確認できてからでも遅くない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